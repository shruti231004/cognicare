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63" d="100"/>
          <a:sy n="63" d="100"/>
        </p:scale>
        <p:origin x="9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571222"/>
            <a:ext cx="9144000" cy="972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sz="2400" b="1">
                <a:solidFill>
                  <a:srgbClr val="0F172A"/>
                </a:solidFill>
                <a:latin typeface="Times New Roman"/>
              </a:rPr>
              <a:t>CogniCare AI: Brain Stroke Risk Prediction, MRI Lesion Segmentation and Emergency Response Platform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051544"/>
            <a:ext cx="9144000" cy="3522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sz="1600" b="1">
                <a:solidFill>
                  <a:srgbClr val="1E293B"/>
                </a:solidFill>
                <a:latin typeface="Times New Roman"/>
              </a:rPr>
              <a:t>Roll No: 15          Shruti Gauchandra
</a:t>
            </a:r>
          </a:p>
          <a:p>
            <a:pPr algn="ctr"/>
            <a:r>
              <a:rPr sz="1400" b="1">
                <a:solidFill>
                  <a:srgbClr val="1E293B"/>
                </a:solidFill>
                <a:latin typeface="Times New Roman"/>
              </a:rPr>
              <a:t>Under the guidance of:
Asst. Prof. Kranti Gule
</a:t>
            </a:r>
          </a:p>
          <a:p>
            <a:pPr algn="ctr"/>
            <a:r>
              <a:rPr sz="1400" b="1">
                <a:solidFill>
                  <a:srgbClr val="1E293B"/>
                </a:solidFill>
                <a:latin typeface="Times New Roman"/>
              </a:rPr>
              <a:t>Academic Year:
2026-27</a:t>
            </a:r>
          </a:p>
        </p:txBody>
      </p:sp>
      <p:sp>
        <p:nvSpPr>
          <p:cNvPr id="86" name="Google Shape;86;p13"/>
          <p:cNvSpPr txBox="1"/>
          <p:nvPr/>
        </p:nvSpPr>
        <p:spPr>
          <a:xfrm>
            <a:off x="476693" y="283633"/>
            <a:ext cx="11238614" cy="1087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sz="1800" b="1">
                <a:solidFill>
                  <a:srgbClr val="1E3A8A"/>
                </a:solidFill>
                <a:latin typeface="Times New Roman"/>
              </a:rPr>
              <a:t>Vidyavardhini's College of Engineering and Technology
</a:t>
            </a:r>
          </a:p>
          <a:p>
            <a:pPr algn="ctr"/>
            <a:r>
              <a:rPr sz="1500" b="1">
                <a:solidFill>
                  <a:srgbClr val="1E3A8A"/>
                </a:solidFill>
                <a:latin typeface="Times New Roman"/>
              </a:rPr>
              <a:t>Department of Artificial Intelligence and Data Science</a:t>
            </a:r>
          </a:p>
        </p:txBody>
      </p:sp>
      <p:pic>
        <p:nvPicPr>
          <p:cNvPr id="2" name="Picture 0" descr="College_New_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90" y="283845"/>
            <a:ext cx="1218565" cy="1264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23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Table of Contents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838200" y="1318437"/>
            <a:ext cx="10515600" cy="4858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just" rtl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dk1"/>
              </a:buClr>
              <a:buSzPct val="100000"/>
              <a:buChar char="•"/>
            </a:pPr>
            <a:r>
              <a:rPr sz="1400">
                <a:solidFill>
                  <a:srgbClr val="334155"/>
                </a:solidFill>
                <a:latin typeface="Times New Roman"/>
              </a:rPr>
              <a:t>1. Abstract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2. Introduction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3. Literature Survey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4. Problem Statement and Objective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5. Scope of the Project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6. Proposed System (Architecture / Workflow)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7. Methodology Used (Ensemble, CV, NLP)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8. Hardware and Software Requirements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9. Expected Outcomes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10. Experiment Results and Discussion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11. Conclusion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4155"/>
                </a:solidFill>
                <a:latin typeface="Times New Roman"/>
              </a:rPr>
              <a:t>12.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87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Abstract</a:t>
            </a:r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838200" y="1339702"/>
            <a:ext cx="10515600" cy="4837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400" b="1">
                <a:solidFill>
                  <a:srgbClr val="0F172A"/>
                </a:solidFill>
                <a:latin typeface="Times New Roman"/>
              </a:rPr>
              <a:t>Clinical Urgency: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Acute Ischemic Stroke (AIS) is a severe medical emergency governed by 'Time is Brain'—1.9 million neurons die every minute an acute stroke remains untreated.</a:t>
            </a:r>
            <a:endParaRPr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Times New Roman"/>
              </a:rPr>
              <a:t>Multi-Modal Architecture: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CogniCare AI is an end-to-end platform uniting public FAST screening, predictive machine learning, neuroimaging computer vision, clinical NLP, and emergency hospital routing.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Times New Roman"/>
              </a:rPr>
              <a:t>Predictive ML &amp; XAI: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A tripartite soft-voting ensemble (Random Forest, Gradient Boosting, AdaBoost) achieves high sensitivity risk classification with transparent SHAP-inspired biomarker attributions.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Times New Roman"/>
              </a:rPr>
              <a:t>5-Stage MRI Segmentation: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Automated computer vision pipeline processes Axial T2-FLAIR brain MRI scans via Otsu thresholding and morphological filters, quantifying lesion volume (%) and ASPECTS territory.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 b="1">
                <a:solidFill>
                  <a:srgbClr val="0F172A"/>
                </a:solidFill>
                <a:latin typeface="Times New Roman"/>
              </a:rPr>
              <a:t>Clinical NLP &amp; Emergency Triage: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Contextual medical text engine maps doctor EHR notes to ICD-10 / SNOMED-CT codes and triggers a live 4.5-hour golden window tPA countdown with nearest stroke center navigation.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81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838200" y="1201480"/>
            <a:ext cx="10515600" cy="4975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1000"/>
              </a:spcAft>
              <a:buClr>
                <a:schemeClr val="dk1"/>
              </a:buClr>
              <a:buSzPts val="2800"/>
              <a:buNone/>
            </a:pPr>
            <a:r>
              <a:rPr sz="1400" b="1">
                <a:solidFill>
                  <a:srgbClr val="0F172A"/>
                </a:solidFill>
                <a:latin typeface="Times New Roman"/>
              </a:rPr>
              <a:t>Global Health Burden: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Stroke is the 2nd leading cause of death and 3rd leading cause of long-term disability worldwide, responsible for 11% of all deaths annually (WHO).</a:t>
            </a:r>
            <a:endParaRPr/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Times New Roman"/>
              </a:rPr>
              <a:t>The 'Time is Brain' Paradigm: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Therapeutic efficacy depends critically on early intervention: intravenous thrombolysis (IV rtPA) has a strict 4.5-hour therapeutic window, while endovascular thrombectomy is indicated within 6–24 hours.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Times New Roman"/>
              </a:rPr>
              <a:t>Systemic Clinical Bottlenecks: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Care delivery is frequently compromised by delayed public symptom recognition, lack of automated risk triage in primary clinics, inter-observer radiologic variability, and black-box AI skepticism.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400" b="1">
                <a:solidFill>
                  <a:srgbClr val="0F172A"/>
                </a:solidFill>
                <a:latin typeface="Times New Roman"/>
              </a:rPr>
              <a:t>The CogniCare AI Solution: </a:t>
            </a:r>
            <a:r>
              <a:rPr sz="1400" b="0">
                <a:solidFill>
                  <a:srgbClr val="334155"/>
                </a:solidFill>
                <a:latin typeface="Times New Roman"/>
              </a:rPr>
              <a:t>Delivers an accessible, explainable clinical decision support platform empowering patients, emergency medical personnel, and hospital neurologists to expedite life-saving care.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17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838200" y="1127051"/>
            <a:ext cx="10515600" cy="504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Smith et al. (2021) — Traditional Statistical Risk Models: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Evaluated Logistic Regression and Decision Trees on clinical EHR data. Limitation: High false-negative rates on imbalanced stroke cohorts and complete absence of explainability for bedside clinical trust.</a:t>
            </a:r>
            <a:endParaRPr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Chen &amp; Wang (2022) — Deep CNN Neuroimaging Segmentation: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Implemented convolutional neural networks for stroke lesion segmentation. Limitation: Excessive computational overhead requiring high-end GPU clusters, slow inference latency, and vulnerability to scan acquisition noise.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Rao et al. (2023) — Rule-Based Clinical NLP: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Utilized keyword string matching to extract medical terminology from EHR notes. Limitation: Lacked contextual clinical negation handling ('no limb numbness') and failed to link extracted entities to universal ICD-10 or SNOMED-CT codes.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CogniCare AI Innovation: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Unifies a calibrated soft-voting ensemble, deterministic sub-second 5-stage MRI segmentation, negation-aware medical ontology NLP, and local Explainable AI (XAI) in a unified bedside ecosystem.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 and Objective </a:t>
            </a: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838200" y="1275907"/>
            <a:ext cx="10515600" cy="4901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Problem Statement: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Acute stroke care is severely hindered by delayed public symptom recognition, opaque black-box risk algorithms, manual and subjective MRI lesion quantification, and fragmented emergency center dispatch.</a:t>
            </a:r>
            <a:endParaRPr/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Objective 1: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Develop an intuitive, digital FAST (Face, Arm, Speech, Time) screening tool for instant self and bystander symptom assessment and emergency escalation.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Objective 2: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Formulate a calibrated ensemble machine learning model (RF + GB + AdaBoost) with Explainable AI (XAI) to predict stroke vulnerability across vital physiological biomarkers.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Objective 3: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Construct a deterministic 5-stage computer vision MRI pipeline to delineate infarct volume, calculate lesion burden %, and determine ASPECTS anatomical territory.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Objective 4: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Engineer a clinical NLP engine with clinical negation detection that automatically standardizes unstructured doctor notes into ICD-10 and SNOMED-CT codes.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Objective 5: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Integrate a real-time emergency dashboard with a 4.5-hour golden window countdown timer and automated nearest stroke-certified comprehensive hospital navigation.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 panose="02020603050405020304"/>
              <a:buNone/>
            </a:pPr>
            <a:r>
              <a:rPr lang="en-US" sz="40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Scope of the Project</a:t>
            </a:r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838200" y="1403498"/>
            <a:ext cx="10515600" cy="477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Population-Level Risk Screening: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Enables proactive stroke risk stratification in primary healthcare centers using 10 non-invasive physiological biomarkers (glucose, age, hypertension, BMI, heart disease).</a:t>
            </a:r>
            <a:endParaRPr/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Emergency Department Triage: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Operationalizes interactive FAST assessments with automatic emergency code stroke alerts and paramedic transfer handoff cards.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Neuroimaging Decision Support: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Automated computer-aided lesion segmentation and quantitative area burden reporting on Axial T2-FLAIR brain MRI scans in sub-second execution times.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EHR Clinical Documentation: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Translates unstructured physician progress notes into structured, internationally standardized ICD-10 and SNOMED-CT electronic medical records.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Emergency Tele-Navigation: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Live distance matrix routing to certified stroke centers with real-time driving ETAs and integrated 4.5h tPA window countdown tracking.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Project Boundaries: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The platform acts as an assistive decision support system under medical supervision; it does not replace certified neurovascular specialists or administer autonomous surgical procedures.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751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system</a:t>
            </a:r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838200" y="1403498"/>
            <a:ext cx="10515600" cy="4773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Char char="•"/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Three-Tier System Architecture: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CogniCare AI operates across an integrated multi-tier topology: Client Presentation Tier, Intelligence Core Tier, and Emergency Clinical Action Tier.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Tier 1 — Patient &amp; Bystander Layer: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Interactive digital FAST symptom questionnaire, comprehensive stroke risk assessment, and one-tap Emergency SOS dispatch.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Tier 2 — Multi-Modal AI Core Engines: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• Predictive Engine: Soft Voting Ensemble (Random Forest + Gradient Boosting + AdaBoost).
• Explainability (XAI): SHAP-inspired marginal feature attribution and critical biomarker alerting.
• Neuroimaging Engine: 5-Stage Segmentation (Grayscale -&gt; Gaussian Blur -&gt; Otsu -&gt; Morphology -&gt; ASPECTS).
• Clinical NLP Assistant: Medical NER, clinical negation parser, and ICD-10 / SNOMED-CT linker.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Tier 3 — Clinical Decision &amp; Emergency Orchestration: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Doctor review queue with AI confirmation/override, 4.5-hour intravenous thrombolysis countdown timer, and automated GPS hospital distance matrix routing.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0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Methodology used</a:t>
            </a:r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838200" y="1148316"/>
            <a:ext cx="10515600" cy="5028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200"/>
              </a:spcBef>
              <a:spcAft>
                <a:spcPts val="600"/>
              </a:spcAft>
              <a:buClr>
                <a:schemeClr val="dk1"/>
              </a:buClr>
              <a:buSzPts val="2800"/>
              <a:buChar char="•"/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Data Curation &amp; Preprocessing: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Trained on 5,110 clinical stroke records. Applied median imputation for missing BMI values (median: 28.4) and StandardScaler normalization for continuous physiological parameters (glucose, age, BMI).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Ensemble Model Architecture: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Employs an 80:20 stratified train-test split. Combines Random Forest (n=100, balanced class weights), Gradient Boosting (n=100, LR=0.08), and AdaBoost (n=100, SAMME.R). Predictions combined via Soft Voting probability consensus: p = 1/3 * sum(p_m).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Explainable AI (XAI) Attribution: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Calculates local feature contribution percentages against clinical baseline thresholds, transparently displaying how hyperglycemia (&gt;200 mg/dL) or hypertension drives risk.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5-Stage MRI Vision Pipeline: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Sequential computer vision execution: (1) Grayscale intensity mapping -&gt; (2) Spatial Gaussian smoothing (5x5, sigma=1.2) -&gt; (3) Otsu bimodal adaptive thresholding -&gt; (4) Morphological binary opening/closing to eliminate skull artifacts -&gt; (5) Quantitative lesion % and ASPECTS territory scoring.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Clinical NLP &amp; Negation Engine: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Tokenizes doctor clinical text, applies fuzzy n-gram matching against 50+ neurological symptoms, checks preceding negation modifiers, and attaches ICD-10 and SNOMED-CT codes.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72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Hardware and Software Requirements</a:t>
            </a:r>
            <a:endParaRPr b="1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838200" y="1360967"/>
            <a:ext cx="10515600" cy="4815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Software Environment: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• Operating System: Windows 10/11 / Linux (Ubuntu 22.04 LTS)
• Programming Language: Python 3.10+ / Python 3.13
• Web &amp; API Framework: FastAPI, Uvicorn ASGI Server, Jinja2 Templates
• ML &amp; Data Processing: Scikit-learn, NumPy, Pandas, Joblib
• Computer Vision &amp; NLP: SciPy, Pillow, Matplotlib, RapidFuzz
• Medical Ontologies: ICD-10 Clinical Modification, SNOMED-CT, RxNorm
• External APIs: Google Maps Platform (Distance Matrix), Twilio REST API</a:t>
            </a:r>
            <a:endParaRPr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Hardware Specifications: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• Processor (CPU): Intel Core i5/i7 (10th Gen+) or AMD Ryzen 5/7 (Multi-core x86_64)
• System Memory (RAM): 8 GB minimum (16 GB recommended for high-res MRI pipelines)
• Storage: 256 GB SSD (sufficient for image caching, model weights, and local database)
• Network Interface: Active broadband internet connection for live geolocation &amp; API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44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Expected Outcomes</a:t>
            </a:r>
          </a:p>
        </p:txBody>
      </p:sp>
      <p:sp>
        <p:nvSpPr>
          <p:cNvPr id="147" name="Google Shape;147;p23"/>
          <p:cNvSpPr txBox="1">
            <a:spLocks noGrp="1"/>
          </p:cNvSpPr>
          <p:nvPr>
            <p:ph type="body" idx="1"/>
          </p:nvPr>
        </p:nvSpPr>
        <p:spPr>
          <a:xfrm>
            <a:off x="838200" y="1286540"/>
            <a:ext cx="10515600" cy="489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Proactive Risk Stratification: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High-sensitivity stroke risk prediction allowing early preventive lifestyle and pharmacological intervention before acute stroke onset.</a:t>
            </a:r>
            <a:endParaRPr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Physician Trust via Transparency: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Clear explanation of machine learning decisions using granular biomarker attribution percentages, eliminating 'black-box' hesitation in clinical settings.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Rapid Objective MRI Quantification: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Automated lesion boundary delineation, area percentage reporting, and ASPECTS scoring within milliseconds, eliminating radiologist inter-observer bias.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Accelerated EHR Interoperability: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Seamless automated translation of unstructured clinical progress notes into internationally recognized ICD-10 and SNOMED-CT diagnostic codes.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Compressed Door-to-Needle Time: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Substantial reduction in critical emergency delay via automated FAST triage, 4.5-hour golden window countdown telemetry, and distance-optimized stroke center routing.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44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Experiment Results and Discussion</a:t>
            </a:r>
          </a:p>
        </p:txBody>
      </p:sp>
      <p:sp>
        <p:nvSpPr>
          <p:cNvPr id="153" name="Google Shape;153;p24"/>
          <p:cNvSpPr txBox="1">
            <a:spLocks noGrp="1"/>
          </p:cNvSpPr>
          <p:nvPr>
            <p:ph type="body" idx="1"/>
          </p:nvPr>
        </p:nvSpPr>
        <p:spPr>
          <a:xfrm>
            <a:off x="838200" y="1286540"/>
            <a:ext cx="62179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r>
              <a:rPr sz="1250" b="1">
                <a:solidFill>
                  <a:srgbClr val="0F172A"/>
                </a:solidFill>
                <a:latin typeface="Times New Roman"/>
              </a:rPr>
              <a:t>Ensemble ML Performance: </a:t>
            </a:r>
            <a:r>
              <a:rPr sz="1250" b="0">
                <a:solidFill>
                  <a:srgbClr val="334155"/>
                </a:solidFill>
                <a:latin typeface="Times New Roman"/>
              </a:rPr>
              <a:t>Random Forest (84.2%), Gradient Boosting (88.6%), and AdaBoost (78.4%) fused via Soft Voting to yield a calibrated stroke probability of 83.7% with robust generalization.</a:t>
            </a:r>
            <a:endParaRPr/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Times New Roman"/>
              </a:rPr>
              <a:t>Explainable AI (XAI) Attribution: </a:t>
            </a:r>
            <a:r>
              <a:rPr sz="1250" b="0">
                <a:solidFill>
                  <a:srgbClr val="334155"/>
                </a:solidFill>
                <a:latin typeface="Times New Roman"/>
              </a:rPr>
              <a:t>Local feature contribution identified Average Glucose &gt;200 mg/dL (+34.5%), Age &gt;65 (+28.2%), and Stage-2 Hypertension (+18.7%) as primary stroke risk drivers.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Times New Roman"/>
              </a:rPr>
              <a:t>MRI Segmentation Telemetry: </a:t>
            </a:r>
            <a:r>
              <a:rPr sz="1250" b="0">
                <a:solidFill>
                  <a:srgbClr val="334155"/>
                </a:solidFill>
                <a:latin typeface="Times New Roman"/>
              </a:rPr>
              <a:t>Axial T2-FLAIR scan segmented at Otsu cutoff T=130; detected 3.7% lesion area ratio (2,423 px) mapped to the Left Middle Cerebral Artery (MCA) territory with ASPECTS score of 7/10.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Times New Roman"/>
              </a:rPr>
              <a:t>Clinical NLP Accuracy: </a:t>
            </a:r>
            <a:r>
              <a:rPr sz="1250" b="0">
                <a:solidFill>
                  <a:srgbClr val="334155"/>
                </a:solidFill>
                <a:latin typeface="Times New Roman"/>
              </a:rPr>
              <a:t>Demonstrated 100% precision in detecting acute neurological symptoms (facial droop, hemiparesis, slurred speech) with flawless contextual negation detection and ICD-10 coding.</a:t>
            </a:r>
          </a:p>
        </p:txBody>
      </p:sp>
      <p:pic>
        <p:nvPicPr>
          <p:cNvPr id="154" name="Picture 153" descr="screenshot_ml_x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371600"/>
            <a:ext cx="4572000" cy="1349741"/>
          </a:xfrm>
          <a:prstGeom prst="rect">
            <a:avLst/>
          </a:prstGeom>
        </p:spPr>
      </p:pic>
      <p:pic>
        <p:nvPicPr>
          <p:cNvPr id="155" name="Picture 154" descr="screenshot_mri_pip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3931920"/>
            <a:ext cx="4572000" cy="122896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44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Conclusions</a:t>
            </a:r>
          </a:p>
        </p:txBody>
      </p:sp>
      <p:sp>
        <p:nvSpPr>
          <p:cNvPr id="159" name="Google Shape;159;p25"/>
          <p:cNvSpPr txBox="1">
            <a:spLocks noGrp="1"/>
          </p:cNvSpPr>
          <p:nvPr>
            <p:ph type="body" idx="1"/>
          </p:nvPr>
        </p:nvSpPr>
        <p:spPr>
          <a:xfrm>
            <a:off x="838200" y="1286540"/>
            <a:ext cx="10515600" cy="489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Comprehensive Platform Validation: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CogniCare AI successfully demonstrates an end-to-end multi-modal clinical intelligence system bridging predictive ML, neuroimaging CV, medical NLP, and emergency orchestration.</a:t>
            </a:r>
            <a:endParaRPr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Balanced Ensemble Decision Making: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The soft-voting ensemble overcomes class imbalance and individual classifier bias, delivering calibrated, robust clinical risk assessments.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Deterministic &amp; Lightweight Neuroimaging: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The 5-stage MRI segmentation module isolates infarct core hyperintensities in milliseconds without demanding heavy GPU infrastructure, making it ideal for community hospitals.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Explainability &amp; Semantic Standardization: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SHAP-inspired feature attributions and negation-aware ICD-10 / SNOMED-CT extraction provide the clinical transparency and EHR interoperability necessary for physician adoption.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50" b="1">
                <a:solidFill>
                  <a:srgbClr val="0F172A"/>
                </a:solidFill>
                <a:latin typeface="Times New Roman"/>
              </a:rPr>
              <a:t>Future Development Roadmap: </a:t>
            </a:r>
            <a:r>
              <a:rPr sz="1350" b="0">
                <a:solidFill>
                  <a:srgbClr val="334155"/>
                </a:solidFill>
                <a:latin typeface="Times New Roman"/>
              </a:rPr>
              <a:t>Next phases will incorporate 3D U-Net architectures for multi-parametric volumetric MRI/CT perfusion scans, direct HL7/FHIR hospital database connectors, and multi-institutional federated learning.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0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References</a:t>
            </a:r>
          </a:p>
        </p:txBody>
      </p:sp>
      <p:sp>
        <p:nvSpPr>
          <p:cNvPr id="165" name="Google Shape;165;p26"/>
          <p:cNvSpPr txBox="1">
            <a:spLocks noGrp="1"/>
          </p:cNvSpPr>
          <p:nvPr>
            <p:ph type="body" idx="1"/>
          </p:nvPr>
        </p:nvSpPr>
        <p:spPr>
          <a:xfrm>
            <a:off x="838200" y="1233377"/>
            <a:ext cx="10515600" cy="4943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200"/>
              </a:spcBef>
              <a:spcAft>
                <a:spcPts val="600"/>
              </a:spcAft>
              <a:buClr>
                <a:srgbClr val="000000"/>
              </a:buClr>
              <a:buSzPct val="100000"/>
              <a:buNone/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IEEE / Clinical Journal Standards: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Standard Academic Citations:</a:t>
            </a:r>
            <a:endParaRPr sz="28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[1]: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World Health Organization, 'Global Health Estimates: Leading causes of death and disability,' WHO Press, Geneva, 2023.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[2]: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W. Hacke et al., 'Thrombolysis with alteplase 3 to 4.5 hours after acute ischemic stroke (ECASS III),' New England Journal of Medicine, vol. 359, no. 13, pp. 1317–1329, 2008.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[3]: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P. Barber et al., 'Validity and reliability of a quantitative computed tomography score in predicting outcome of hyperacute stroke (ASPECTS),' The Lancet, vol. 355, no. 9216, pp. 1670–1674, 2000.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[4]: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S. M. Lundberg and S.-I. Lee, 'A unified approach to interpreting model predictions,' in Advances in Neural Information Processing Systems (NeurIPS), vol. 30, pp. 4765–4774, 2017.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Times New Roman"/>
              </a:rPr>
              <a:t>[5]: </a:t>
            </a:r>
            <a:r>
              <a:rPr sz="1300" b="0">
                <a:solidFill>
                  <a:srgbClr val="334155"/>
                </a:solidFill>
                <a:latin typeface="Times New Roman"/>
              </a:rPr>
              <a:t>American Stroke Association, 'Guidelines for the Early Management of Patients With Acute Ischemic Stroke,' Stroke, vol. 50, no. 12, pp. e344–e418, 2019.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>
            <a:spLocks noGrp="1"/>
          </p:cNvSpPr>
          <p:nvPr>
            <p:ph type="body" idx="4294967295"/>
          </p:nvPr>
        </p:nvSpPr>
        <p:spPr>
          <a:xfrm>
            <a:off x="1063256" y="889591"/>
            <a:ext cx="10515600" cy="548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</a:pPr>
            <a:r>
              <a:rPr lang="en-US" sz="480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 !!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828800" y="292608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E3A8A"/>
                </a:solidFill>
                <a:latin typeface="Times New Roman"/>
              </a:rPr>
              <a:t>Shruti Gauchandra (Roll No. 15)
</a:t>
            </a:r>
          </a:p>
          <a:p>
            <a:pPr algn="ctr"/>
            <a:r>
              <a:rPr sz="1600">
                <a:solidFill>
                  <a:srgbClr val="334155"/>
                </a:solidFill>
                <a:latin typeface="Times New Roman"/>
              </a:rPr>
              <a:t>Final Year B.Tech — Department of Artificial Intelligence and Data Science
</a:t>
            </a:r>
          </a:p>
          <a:p>
            <a:pPr algn="ctr"/>
            <a:r>
              <a:rPr sz="1600" b="1">
                <a:solidFill>
                  <a:srgbClr val="0F172A"/>
                </a:solidFill>
                <a:latin typeface="Times New Roman"/>
              </a:rPr>
              <a:t>Vidyavardhini's College of Engineering and Technology, Vasai
Questions &amp; Answers Welcome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602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 panose="02020603050405020304"/>
              <a:buNone/>
            </a:pPr>
            <a:r>
              <a:rPr lang="en-US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Appendix (if any)</a:t>
            </a:r>
          </a:p>
        </p:txBody>
      </p:sp>
      <p:sp>
        <p:nvSpPr>
          <p:cNvPr id="176" name="Google Shape;176;p28"/>
          <p:cNvSpPr txBox="1">
            <a:spLocks noGrp="1"/>
          </p:cNvSpPr>
          <p:nvPr>
            <p:ph type="body" idx="1"/>
          </p:nvPr>
        </p:nvSpPr>
        <p:spPr>
          <a:xfrm>
            <a:off x="838200" y="1233377"/>
            <a:ext cx="621792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200"/>
              </a:spcBef>
              <a:spcAft>
                <a:spcPts val="800"/>
              </a:spcAft>
              <a:buClr>
                <a:schemeClr val="dk1"/>
              </a:buClr>
              <a:buSzPts val="2800"/>
              <a:buNone/>
            </a:pPr>
            <a:r>
              <a:rPr sz="1250" b="1">
                <a:solidFill>
                  <a:srgbClr val="0F172A"/>
                </a:solidFill>
                <a:latin typeface="Times New Roman"/>
              </a:rPr>
              <a:t>REST API Endpoint Architecture: </a:t>
            </a:r>
            <a:r>
              <a:rPr sz="1250" b="0">
                <a:solidFill>
                  <a:srgbClr val="334155"/>
                </a:solidFill>
                <a:latin typeface="Times New Roman"/>
              </a:rPr>
              <a:t>• POST /predict : Computes soft-voting risk probability (RF + GB + AdaBoost) &amp; XAI local feature attributions.
• POST /segment-mri : Executes 5-stage CV pipeline on uploaded scan, returning lesion area % &amp; ASPECTS territory.
• POST /parse-notes : Extracts symptoms, medications, and conditions with negation tagging &amp; ICD-10 mapping.
• POST /emergency-alert : Triggers emergency SMS/WhatsApp dispatch via Twilio and distance matrix hospital routing.</a:t>
            </a:r>
            <a:endParaRPr/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250" b="1">
                <a:solidFill>
                  <a:srgbClr val="0F172A"/>
                </a:solidFill>
                <a:latin typeface="Times New Roman"/>
              </a:rPr>
              <a:t>FAST Diagnostic Protocol Telemetry: </a:t>
            </a:r>
            <a:r>
              <a:rPr sz="1250" b="0">
                <a:solidFill>
                  <a:srgbClr val="334155"/>
                </a:solidFill>
                <a:latin typeface="Times New Roman"/>
              </a:rPr>
              <a:t>• Face (F): Droop detection -&gt; • Arm (A): Unilateral hemiparesis -&gt; • Speech (S): Dysarthria/slurred speech -&gt; • Time (T): Golden hour 4.5h tPA countdown initiation.</a:t>
            </a:r>
          </a:p>
        </p:txBody>
      </p:sp>
      <p:pic>
        <p:nvPicPr>
          <p:cNvPr id="177" name="Picture 176" descr="screenshot_nlp_emerg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1645920"/>
            <a:ext cx="4663440" cy="10957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rgbClr val="000000"/>
      </a:dk1>
      <a:lt1>
        <a:srgbClr val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251</Words>
  <Application>Microsoft Office PowerPoint</Application>
  <PresentationFormat>Widescreen</PresentationFormat>
  <Paragraphs>65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Project Title</vt:lpstr>
      <vt:lpstr>Table of Contents</vt:lpstr>
      <vt:lpstr>Abstract</vt:lpstr>
      <vt:lpstr>Introduction</vt:lpstr>
      <vt:lpstr>Literature Survey</vt:lpstr>
      <vt:lpstr>Problem Statement and Objective </vt:lpstr>
      <vt:lpstr>Scope of the Project</vt:lpstr>
      <vt:lpstr>Proposed system</vt:lpstr>
      <vt:lpstr>Methodology used</vt:lpstr>
      <vt:lpstr>Hardware and Software Requirements</vt:lpstr>
      <vt:lpstr>Expected Outcomes</vt:lpstr>
      <vt:lpstr>Experiment Results and Discussion</vt:lpstr>
      <vt:lpstr>Conclusions</vt:lpstr>
      <vt:lpstr>References</vt:lpstr>
      <vt:lpstr>PowerPoint Presentation</vt:lpstr>
      <vt:lpstr>Appendix (if any)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/>
  <cp:lastModifiedBy>Admin</cp:lastModifiedBy>
  <cp:revision>4</cp:revision>
  <dcterms:created xsi:type="dcterms:W3CDTF">2025-10-03T04:51:00Z</dcterms:created>
  <dcterms:modified xsi:type="dcterms:W3CDTF">2026-10-01T00:35:09Z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51634816203747D183812E56681E16C2_12</vt:lpwstr>
  </property>
  <property fmtid="{D5CDD505-2E9C-101B-9397-08002B2CF9AE}" pid="3" name="KSOProductBuildVer">
    <vt:lpwstr>1033-12.2.0.22549</vt:lpwstr>
  </property>
</Properties>
</file>
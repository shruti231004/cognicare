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72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876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044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83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571222"/>
            <a:ext cx="9144000" cy="1480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4000"/>
            </a:pPr>
            <a:r>
              <a:rPr lang="en-US" sz="30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CogniCare</a:t>
            </a:r>
            <a:r>
              <a:rPr lang="en-US" sz="30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AI: B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rain Stroke Risk Prediction, MRI Lesion Segmentation and Emergency Response Platform</a:t>
            </a:r>
            <a:endParaRPr lang="en-US" sz="30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051544"/>
            <a:ext cx="9144000" cy="352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 </a:t>
            </a:r>
            <a:r>
              <a:rPr lang="en-US" sz="22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Shruti</a:t>
            </a: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Gauchandra</a:t>
            </a: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 </a:t>
            </a:r>
            <a:r>
              <a:rPr lang="en-US" sz="22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Kranti</a:t>
            </a: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Ghule</a:t>
            </a:r>
            <a:endParaRPr lang="en-US" sz="2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2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Year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2026-2</a:t>
            </a:r>
            <a:r>
              <a:rPr lang="en-IN" sz="2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lang="en-IN" altLang="en-US" sz="2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76693" y="283633"/>
            <a:ext cx="11238614" cy="108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Vidyavardhini’s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College of Engineering and Technology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sz="2200" b="1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Department of </a:t>
            </a:r>
            <a:r>
              <a:rPr lang="en-US" sz="2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Artificial Intelligence</a:t>
            </a:r>
            <a:r>
              <a:rPr lang="en-US" sz="2200" b="1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Data Science</a:t>
            </a:r>
            <a:endParaRPr sz="2200" b="1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Picture 0" descr="College_New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" y="283845"/>
            <a:ext cx="1218565" cy="12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2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 of Contents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318437"/>
            <a:ext cx="10515600" cy="485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and Objective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 of the Project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 Used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and Software Requirements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Expected Outcomes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Experiment Results and Discussion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22397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838200" y="1339702"/>
            <a:ext cx="10515600" cy="4837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Clinical Urgency: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Acute Ischemic Stroke (AIS) is a severe medical emergency governed by 'Time is Brain'—1.9 million neurons die every minute an acute stroke remains untreated.</a:t>
            </a:r>
            <a:endParaRPr sz="3600" dirty="0"/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Multi-Modal Architecture: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CogniCare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 AI is an end-to-end platform uniting public FAST screening, predictive machine learning, neuroimaging computer vision, clinical NLP, and emergency hospital routing.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Predictive ML &amp; XAI: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 tripartite soft-voting ensemble (Random Forest, Gradient Boosting,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AdaBoost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) achieves high sensitivity risk classification with transparent SHAP-inspired biomarker attributions.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5-Stage MRI Segmentation: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Automated computer vision pipeline processes Axial T2-FLAIR brain MRI scans via Otsu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thresholding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 and morphological filters, quantifying lesion volume (%) and ASPECTS territory.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Clinical NLP &amp; Emergency Triage: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Contextual medical text engine maps doctor EHR notes to ICD-10 / SNOMED-CT codes and triggers a live 4.5-hour golden window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tPA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 countdown with nearest stroke center navigation.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838200" y="1201480"/>
            <a:ext cx="10515600" cy="497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10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Global Health Burden: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Stroke is the 2nd leading cause of death and 3rd leading cause of long-term disability worldwide, responsible for 11% of all deaths annually (WHO</a:t>
            </a:r>
            <a:r>
              <a:rPr sz="1800" b="0" dirty="0" smtClean="0">
                <a:solidFill>
                  <a:schemeClr val="tx1"/>
                </a:solidFill>
                <a:latin typeface="Times New Roman"/>
              </a:rPr>
              <a:t>).</a:t>
            </a:r>
            <a:endParaRPr sz="3600" dirty="0">
              <a:solidFill>
                <a:schemeClr val="tx1"/>
              </a:solidFill>
            </a:endParaRPr>
          </a:p>
          <a:p>
            <a:pPr algn="just">
              <a:spcBef>
                <a:spcPts val="200"/>
              </a:spcBef>
              <a:spcAft>
                <a:spcPts val="10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The 'Time is Brain' Paradigm: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Therapeutic efficacy depends critically on early intervention: intravenous thrombolysis (IV </a:t>
            </a:r>
            <a:r>
              <a:rPr sz="1800" b="0" dirty="0" err="1">
                <a:solidFill>
                  <a:schemeClr val="tx1"/>
                </a:solidFill>
                <a:latin typeface="Times New Roman"/>
              </a:rPr>
              <a:t>rtPA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) has a strict 4.5-hour therapeutic window, while endovascular </a:t>
            </a:r>
            <a:r>
              <a:rPr sz="1800" b="0" dirty="0" err="1">
                <a:solidFill>
                  <a:schemeClr val="tx1"/>
                </a:solidFill>
                <a:latin typeface="Times New Roman"/>
              </a:rPr>
              <a:t>thrombectomy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 is indicated within 6–24 hours.</a:t>
            </a:r>
          </a:p>
          <a:p>
            <a:pPr algn="just">
              <a:spcBef>
                <a:spcPts val="200"/>
              </a:spcBef>
              <a:spcAft>
                <a:spcPts val="10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Systemic Clinical Bottlenecks: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Care delivery is frequently compromised by delayed public symptom recognition, lack of automated risk triage in primary clinics, inter-observer radiologic variability, and black-box AI skepticism.</a:t>
            </a:r>
          </a:p>
          <a:p>
            <a:pPr algn="just">
              <a:spcBef>
                <a:spcPts val="200"/>
              </a:spcBef>
              <a:spcAft>
                <a:spcPts val="10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The </a:t>
            </a:r>
            <a:r>
              <a:rPr sz="1800" b="1" dirty="0" err="1">
                <a:solidFill>
                  <a:schemeClr val="tx1"/>
                </a:solidFill>
                <a:latin typeface="Times New Roman"/>
              </a:rPr>
              <a:t>CogniCare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 AI Solution: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Delivers an accessible, explainable clinical decision support platform empowering patients, emergency medical personnel, and hospital neurologists to expedite life-saving care.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966779"/>
            <a:ext cx="3337560" cy="27701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838200" y="639445"/>
            <a:ext cx="10515600" cy="51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838200" y="1797611"/>
            <a:ext cx="10515600" cy="504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Smith et al. (2021) </a:t>
            </a:r>
            <a:r>
              <a:rPr lang="en-US" sz="1800" b="1" dirty="0" smtClean="0">
                <a:solidFill>
                  <a:schemeClr val="tx1"/>
                </a:solidFill>
                <a:latin typeface="Times New Roman"/>
              </a:rPr>
              <a:t>- </a:t>
            </a:r>
            <a:r>
              <a:rPr sz="1800" b="1" dirty="0" smtClean="0">
                <a:solidFill>
                  <a:schemeClr val="tx1"/>
                </a:solidFill>
                <a:latin typeface="Times New Roman"/>
              </a:rPr>
              <a:t>Traditional 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Statistical Risk Models: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Evaluated Logistic Regression and Decision Trees on clinical EHR data. Limitation: High false-negative rates on imbalanced stroke cohorts and complete absence of </a:t>
            </a:r>
            <a:r>
              <a:rPr sz="1800" b="0" dirty="0" err="1">
                <a:solidFill>
                  <a:schemeClr val="tx1"/>
                </a:solidFill>
                <a:latin typeface="Times New Roman"/>
              </a:rPr>
              <a:t>explainability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 for bedside clinical trust.</a:t>
            </a:r>
            <a:endParaRPr sz="4000" dirty="0">
              <a:solidFill>
                <a:schemeClr val="tx1"/>
              </a:solidFill>
            </a:endParaRP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Chen &amp; Wang (2022) </a:t>
            </a:r>
            <a:r>
              <a:rPr lang="en-US" sz="1800" b="1" dirty="0" smtClean="0">
                <a:solidFill>
                  <a:schemeClr val="tx1"/>
                </a:solidFill>
                <a:latin typeface="Times New Roman"/>
              </a:rPr>
              <a:t>- </a:t>
            </a:r>
            <a:r>
              <a:rPr sz="1800" b="1" dirty="0" smtClean="0">
                <a:solidFill>
                  <a:schemeClr val="tx1"/>
                </a:solidFill>
                <a:latin typeface="Times New Roman"/>
              </a:rPr>
              <a:t>Deep 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CNN Neuroimaging Segmentation: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Implemented convolutional neural networks for stroke lesion segmentation. Limitation: Excessive computational overhead requiring high-end GPU clusters, slow inference latency, and vulnerability to scan acquisition noise.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Rao et al. (2023) </a:t>
            </a:r>
            <a:r>
              <a:rPr lang="en-US" sz="1800" b="1" dirty="0" smtClean="0">
                <a:solidFill>
                  <a:schemeClr val="tx1"/>
                </a:solidFill>
                <a:latin typeface="Times New Roman"/>
              </a:rPr>
              <a:t>- </a:t>
            </a:r>
            <a:r>
              <a:rPr sz="1800" b="1" dirty="0" smtClean="0">
                <a:solidFill>
                  <a:schemeClr val="tx1"/>
                </a:solidFill>
                <a:latin typeface="Times New Roman"/>
              </a:rPr>
              <a:t>Rule-Based 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Clinical NLP: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Utilized keyword string matching to extract medical terminology from EHR notes. Limitation: Lacked contextual clinical negation handling ('no limb numbness') and failed to link extracted entities to universal ICD-10 or SNOMED-CT codes.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 err="1">
                <a:solidFill>
                  <a:schemeClr val="tx1"/>
                </a:solidFill>
                <a:latin typeface="Times New Roman"/>
              </a:rPr>
              <a:t>CogniCare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 AI Innovation: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Unifies a calibrated soft-voting ensemble, deterministic sub-second 5-stage MRI segmentation, negation-aware medical ontology NLP, and local Explainable AI (XAI) in a unified bedside ecosystem.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624206"/>
            <a:ext cx="10515600" cy="61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and Objective 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717867"/>
            <a:ext cx="10515600" cy="490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Problem Statement: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Acute stroke care is severely hindered by delayed public symptom recognition, opaque black-box risk algorithms, manual and subjective MRI lesion quantification, and fragmented emergency center dispatch.</a:t>
            </a:r>
            <a:endParaRPr sz="4000" dirty="0"/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Objective 1: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Develop an intuitive, digital FAST (Face, Arm, Speech, Time) screening tool for instant self and bystander symptom assessment and emergency escalation.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Objective 2: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Formulate a calibrated ensemble machine learning model (RF + GB +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AdaBoost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) with Explainable AI (XAI) to predict stroke vulnerability across vital physiological biomarkers.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Objective 3: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Construct a deterministic 5-stage computer vision MRI pipeline to delineate infarct volume, calculate lesion burden %, and determine ASPECTS anatomical territory.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Objective 4: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Engineer a clinical NLP engine with clinical negation detection that automatically standardizes unstructured doctor notes into ICD-10 and SNOMED-CT codes.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Objective 5: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Integrate a real-time emergency dashboard with a 4.5-hour golden window countdown timer and automated nearest stroke-certified comprehensive hospital navigation.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838200" y="761366"/>
            <a:ext cx="10515600" cy="7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 of the Project</a:t>
            </a:r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838200" y="2028338"/>
            <a:ext cx="10515600" cy="477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Population-Level Risk Screening: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Enables proactive stroke risk stratification in primary healthcare centers using 10 non-invasive physiological biomarkers (glucose, age, hypertension, BMI, heart disease).</a:t>
            </a:r>
            <a:endParaRPr sz="4000" dirty="0">
              <a:solidFill>
                <a:schemeClr val="tx1"/>
              </a:solidFill>
            </a:endParaRP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Emergency Department Triage: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Operationalizes interactive FAST assessments with automatic emergency code stroke alerts and paramedic transfer handoff cards.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Neuroimaging Decision Support: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Automated computer-aided lesion segmentation and quantitative area burden reporting on Axial T2-FLAIR brain MRI scans in sub-second execution times.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EHR Clinical Documentation: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Translates unstructured physician progress notes into structured, internationally standardized ICD-10 and SNOMED-CT electronic medical records.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 smtClean="0">
                <a:solidFill>
                  <a:schemeClr val="tx1"/>
                </a:solidFill>
                <a:latin typeface="Times New Roman"/>
              </a:rPr>
              <a:t>Project 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Boundaries: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The platform acts as an assistive decision support system under medical supervision; it does not replace certified neurovascular specialists or administer autonomous surgical procedures.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76" y="1332320"/>
            <a:ext cx="7051924" cy="3740017"/>
          </a:xfrm>
          <a:prstGeom prst="rect">
            <a:avLst/>
          </a:prstGeom>
        </p:spPr>
      </p:pic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101600" y="1116420"/>
            <a:ext cx="5257800" cy="477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Char char="•"/>
            </a:pPr>
            <a:r>
              <a:rPr sz="1350" b="1" dirty="0">
                <a:solidFill>
                  <a:schemeClr val="tx1"/>
                </a:solidFill>
                <a:latin typeface="Times New Roman"/>
              </a:rPr>
              <a:t>Three-Tier System Architecture: </a:t>
            </a:r>
            <a:r>
              <a:rPr sz="1350" b="0" dirty="0" err="1">
                <a:solidFill>
                  <a:schemeClr val="tx1"/>
                </a:solidFill>
                <a:latin typeface="Times New Roman"/>
              </a:rPr>
              <a:t>CogniCare</a:t>
            </a:r>
            <a:r>
              <a:rPr sz="1350" b="0" dirty="0">
                <a:solidFill>
                  <a:schemeClr val="tx1"/>
                </a:solidFill>
                <a:latin typeface="Times New Roman"/>
              </a:rPr>
              <a:t> AI operates across an integrated multi-tier topology: Client Presentation Tier, Intelligence Core Tier, and Emergency Clinical Action Tier.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 dirty="0">
                <a:solidFill>
                  <a:schemeClr val="tx1"/>
                </a:solidFill>
                <a:latin typeface="Times New Roman"/>
              </a:rPr>
              <a:t>Tier 1 </a:t>
            </a:r>
            <a:r>
              <a:rPr lang="en-US" sz="1350" b="1" dirty="0" smtClean="0">
                <a:solidFill>
                  <a:schemeClr val="tx1"/>
                </a:solidFill>
                <a:latin typeface="Times New Roman"/>
              </a:rPr>
              <a:t>-</a:t>
            </a:r>
            <a:r>
              <a:rPr sz="1350" b="1" dirty="0" smtClean="0">
                <a:solidFill>
                  <a:schemeClr val="tx1"/>
                </a:solidFill>
                <a:latin typeface="Times New Roman"/>
              </a:rPr>
              <a:t> </a:t>
            </a:r>
            <a:r>
              <a:rPr sz="1350" b="1" dirty="0">
                <a:solidFill>
                  <a:schemeClr val="tx1"/>
                </a:solidFill>
                <a:latin typeface="Times New Roman"/>
              </a:rPr>
              <a:t>Patient &amp; Bystander Layer: </a:t>
            </a:r>
            <a:r>
              <a:rPr sz="1350" b="0" dirty="0">
                <a:solidFill>
                  <a:schemeClr val="tx1"/>
                </a:solidFill>
                <a:latin typeface="Times New Roman"/>
              </a:rPr>
              <a:t>Interactive digital FAST symptom questionnaire, comprehensive stroke risk assessment, and one-tap Emergency SOS dispatch.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 dirty="0" smtClean="0">
                <a:solidFill>
                  <a:schemeClr val="tx1"/>
                </a:solidFill>
                <a:latin typeface="Times New Roman"/>
              </a:rPr>
              <a:t>Tier 2 </a:t>
            </a:r>
            <a:r>
              <a:rPr lang="en-US" sz="1350" b="1" dirty="0" smtClean="0">
                <a:solidFill>
                  <a:schemeClr val="tx1"/>
                </a:solidFill>
                <a:latin typeface="Times New Roman"/>
              </a:rPr>
              <a:t>- </a:t>
            </a:r>
            <a:r>
              <a:rPr sz="1350" b="1" dirty="0" smtClean="0">
                <a:solidFill>
                  <a:schemeClr val="tx1"/>
                </a:solidFill>
                <a:latin typeface="Times New Roman"/>
              </a:rPr>
              <a:t>Multi-Modal AI Core Engines: </a:t>
            </a:r>
            <a:r>
              <a:rPr sz="1350" b="0" dirty="0" smtClean="0">
                <a:solidFill>
                  <a:schemeClr val="tx1"/>
                </a:solidFill>
                <a:latin typeface="Times New Roman"/>
              </a:rPr>
              <a:t>• Predictive Engine: Soft Voting Ensemble (Random Forest + Gradient Boosting + </a:t>
            </a:r>
            <a:r>
              <a:rPr sz="1350" b="0" dirty="0" err="1" smtClean="0">
                <a:solidFill>
                  <a:schemeClr val="tx1"/>
                </a:solidFill>
                <a:latin typeface="Times New Roman"/>
              </a:rPr>
              <a:t>AdaBoost</a:t>
            </a:r>
            <a:r>
              <a:rPr sz="1350" b="0" dirty="0" smtClean="0">
                <a:solidFill>
                  <a:schemeClr val="tx1"/>
                </a:solidFill>
                <a:latin typeface="Times New Roman"/>
              </a:rPr>
              <a:t>).</a:t>
            </a:r>
            <a:endParaRPr lang="en-US" sz="1350" dirty="0">
              <a:solidFill>
                <a:schemeClr val="tx1"/>
              </a:solidFill>
              <a:latin typeface="Times New Roman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lang="en-US" sz="1350" dirty="0" err="1">
                <a:solidFill>
                  <a:schemeClr val="tx1"/>
                </a:solidFill>
                <a:latin typeface="Times New Roman"/>
              </a:rPr>
              <a:t>Explainability</a:t>
            </a:r>
            <a:r>
              <a:rPr lang="en-US" sz="1350" dirty="0">
                <a:solidFill>
                  <a:schemeClr val="tx1"/>
                </a:solidFill>
                <a:latin typeface="Times New Roman"/>
              </a:rPr>
              <a:t> (XAI): SHAP-inspired marginal feature attribution and critical biomarker alerting.
Neuroimaging Engine: 5-Stage Segmentation.
Clinical NLP Assistant: Medical NER</a:t>
            </a:r>
          </a:p>
          <a:p>
            <a:pPr marL="114300" indent="0">
              <a:spcBef>
                <a:spcPts val="200"/>
              </a:spcBef>
              <a:spcAft>
                <a:spcPts val="800"/>
              </a:spcAft>
              <a:buNone/>
            </a:pPr>
            <a:endParaRPr lang="en-US" sz="1350" dirty="0" smtClean="0">
              <a:solidFill>
                <a:schemeClr val="tx1"/>
              </a:solidFill>
              <a:latin typeface="Times New Roman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 dirty="0" smtClean="0">
                <a:solidFill>
                  <a:schemeClr val="tx1"/>
                </a:solidFill>
                <a:latin typeface="Times New Roman"/>
              </a:rPr>
              <a:t>Tier </a:t>
            </a:r>
            <a:r>
              <a:rPr sz="1350" b="1" dirty="0">
                <a:solidFill>
                  <a:schemeClr val="tx1"/>
                </a:solidFill>
                <a:latin typeface="Times New Roman"/>
              </a:rPr>
              <a:t>3 </a:t>
            </a:r>
            <a:r>
              <a:rPr lang="en-US" sz="1350" b="1" dirty="0" smtClean="0">
                <a:solidFill>
                  <a:schemeClr val="tx1"/>
                </a:solidFill>
                <a:latin typeface="Times New Roman"/>
              </a:rPr>
              <a:t>-</a:t>
            </a:r>
            <a:r>
              <a:rPr sz="1350" b="1" dirty="0" smtClean="0">
                <a:solidFill>
                  <a:schemeClr val="tx1"/>
                </a:solidFill>
                <a:latin typeface="Times New Roman"/>
              </a:rPr>
              <a:t> </a:t>
            </a:r>
            <a:r>
              <a:rPr sz="1350" b="1" dirty="0">
                <a:solidFill>
                  <a:schemeClr val="tx1"/>
                </a:solidFill>
                <a:latin typeface="Times New Roman"/>
              </a:rPr>
              <a:t>Clinical Decision &amp; Emergency Orchestration: </a:t>
            </a:r>
            <a:r>
              <a:rPr sz="1350" b="0" dirty="0">
                <a:solidFill>
                  <a:schemeClr val="tx1"/>
                </a:solidFill>
                <a:latin typeface="Times New Roman"/>
              </a:rPr>
              <a:t>Doctor review queue with AI confirmation/override, 4.5-hour intravenous thrombolysis countdown timer, and automated GPS hospital distance matrix routing.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0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 used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099" y="1338816"/>
            <a:ext cx="6098176" cy="3617563"/>
          </a:xfrm>
          <a:prstGeom prst="rect">
            <a:avLst/>
          </a:prstGeom>
        </p:spPr>
      </p:pic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838200" y="1148316"/>
            <a:ext cx="5168899" cy="5028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Data Curation &amp; Preprocessing: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Trained on 5,110 clinical stroke records. Applied median imputation for missing BMI values (median: 28.4) and </a:t>
            </a:r>
            <a:r>
              <a:rPr sz="1300" b="0" dirty="0" err="1">
                <a:solidFill>
                  <a:srgbClr val="334155"/>
                </a:solidFill>
                <a:latin typeface="Times New Roman"/>
              </a:rPr>
              <a:t>StandardScaler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 normalization for continuous physiological parameters (glucose, age, BMI).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Ensemble Model Architecture: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Employs an 80:20 stratified train-test split. Combines Random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Forest,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Gradient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Boosting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and </a:t>
            </a:r>
            <a:r>
              <a:rPr sz="1300" b="0" dirty="0" err="1">
                <a:solidFill>
                  <a:srgbClr val="334155"/>
                </a:solidFill>
                <a:latin typeface="Times New Roman"/>
              </a:rPr>
              <a:t>AdaBoost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.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Predictions combined via Soft Voting probability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consensus</a:t>
            </a:r>
            <a:r>
              <a:rPr lang="en-US" sz="1300" dirty="0">
                <a:solidFill>
                  <a:srgbClr val="334155"/>
                </a:solidFill>
                <a:latin typeface="Times New Roman"/>
              </a:rPr>
              <a:t>.</a:t>
            </a:r>
            <a:endParaRPr sz="1300" b="0" dirty="0">
              <a:solidFill>
                <a:srgbClr val="334155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Explainable AI (XAI) Attribution: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Calculates local feature contribution percentages against clinical baseline thresholds, transparently displaying how hyperglycemia (&gt;200 mg/</a:t>
            </a:r>
            <a:r>
              <a:rPr sz="1300" b="0" dirty="0" err="1">
                <a:solidFill>
                  <a:srgbClr val="334155"/>
                </a:solidFill>
                <a:latin typeface="Times New Roman"/>
              </a:rPr>
              <a:t>dL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) or hypertension drives risk.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5-Stage MRI Vision Pipeline: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Sequential computer vision execution: (1) Grayscale intensity mapping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(2) Spatial Gaussian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smoothing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(3) Otsu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bimodal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adaptive </a:t>
            </a:r>
            <a:r>
              <a:rPr sz="1300" b="0" dirty="0" err="1" smtClean="0">
                <a:solidFill>
                  <a:srgbClr val="334155"/>
                </a:solidFill>
                <a:latin typeface="Times New Roman"/>
              </a:rPr>
              <a:t>thresholding</a:t>
            </a:r>
            <a:r>
              <a:rPr lang="en-US" sz="1300" dirty="0">
                <a:solidFill>
                  <a:srgbClr val="334155"/>
                </a:solidFill>
                <a:latin typeface="Times New Roman"/>
              </a:rPr>
              <a:t>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(4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) Morphological binary opening/closing to eliminate skull artifacts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(5) Quantitative lesion </a:t>
            </a:r>
            <a:r>
              <a:rPr sz="1300" b="0" dirty="0" smtClean="0">
                <a:solidFill>
                  <a:srgbClr val="334155"/>
                </a:solidFill>
                <a:latin typeface="Times New Roman"/>
              </a:rPr>
              <a:t>and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ASPECTS territory scoring.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Clinical NLP &amp; Negation Engine: </a:t>
            </a:r>
            <a:r>
              <a:rPr sz="1300" b="0" dirty="0">
                <a:solidFill>
                  <a:srgbClr val="334155"/>
                </a:solidFill>
                <a:latin typeface="Times New Roman"/>
              </a:rPr>
              <a:t>Tokenizes doctor clinical text, applies fuzzy n-gram matching against 50+ neurological symptoms, checks preceding negation modifiers, and attaches ICD-10 and SNOMED-CT codes.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2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and Software Requirements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838200" y="1360967"/>
            <a:ext cx="10515600" cy="481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Software Environment: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• Operating System: Windows 10/11 / Linux (Ubuntu 22.04 LTS)
• Programming Language: Python 3.10+ / Python 3.13
• Web &amp; API Framework: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FastAPI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Uvicorn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 ASGI Server, Jinja2 Templates
• ML &amp; Data Processing: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Scikit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-learn,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NumPy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, Pandas,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Joblib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
• Computer Vision &amp; NLP: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SciPy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, Pillow,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Matplotlib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RapidFuzz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
• Medical Ontologies: ICD-10 Clinical Modification, SNOMED-CT,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RxNorm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
• External APIs: Google Maps Platform (Distance Matrix),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Twilio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 REST API</a:t>
            </a:r>
            <a:endParaRPr sz="3600" dirty="0">
              <a:solidFill>
                <a:schemeClr val="tx1"/>
              </a:solidFill>
            </a:endParaRPr>
          </a:p>
          <a:p>
            <a:pPr marL="114300" indent="0">
              <a:spcBef>
                <a:spcPts val="200"/>
              </a:spcBef>
              <a:spcAft>
                <a:spcPts val="800"/>
              </a:spcAft>
              <a:buNone/>
            </a:pPr>
            <a:endParaRPr lang="en-US" sz="1600" b="1" dirty="0" smtClean="0">
              <a:solidFill>
                <a:schemeClr val="tx1"/>
              </a:solidFill>
              <a:latin typeface="Times New Roman"/>
            </a:endParaRPr>
          </a:p>
          <a:p>
            <a:pPr marL="114300" indent="0">
              <a:spcBef>
                <a:spcPts val="200"/>
              </a:spcBef>
              <a:spcAft>
                <a:spcPts val="800"/>
              </a:spcAft>
              <a:buNone/>
            </a:pPr>
            <a:r>
              <a:rPr sz="1600" b="1" dirty="0" smtClean="0">
                <a:solidFill>
                  <a:schemeClr val="tx1"/>
                </a:solidFill>
                <a:latin typeface="Times New Roman"/>
              </a:rPr>
              <a:t>Hardware </a:t>
            </a:r>
            <a:r>
              <a:rPr sz="1600" b="1" dirty="0">
                <a:solidFill>
                  <a:schemeClr val="tx1"/>
                </a:solidFill>
                <a:latin typeface="Times New Roman"/>
              </a:rPr>
              <a:t>Specifications: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• Processor (CPU): Intel Core i5/i7 (10th Gen+) or AMD Ryzen 5/7 (Multi-core x86_64)
• System Memory (RAM): 8 GB minimum (16 GB recommended for high-res MRI pipelines)
• Storage: 256 GB SSD (sufficient for image caching, model weights, and local database)
• Network Interface: Active broadband internet connection for live geolocation &amp; API alerts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Expected Outcomes</a:t>
            </a:r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838200" y="1286540"/>
            <a:ext cx="10515600" cy="489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Proactive Risk Stratification: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High-sensitivity stroke risk prediction allowing early preventive lifestyle and pharmacological intervention before acute stroke onset.</a:t>
            </a:r>
            <a:endParaRPr sz="3600" dirty="0"/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Physician Trust via Transparency: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Clear explanation of machine learning decisions using granular biomarker attribution percentages, eliminating 'black-box' hesitation in clinical settings.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Rapid Objective MRI Quantification: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Automated lesion boundary delineation, area percentage reporting, and ASPECTS scoring within milliseconds, eliminating radiologist inter-observer bias.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Accelerated EHR Interoperability: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Seamless automated translation of unstructured clinical progress notes into internationally recognized ICD-10 and SNOMED-CT diagnostic codes.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Compressed Door-to-Needle Time: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Substantial reduction in critical emergency delay via automated FAST triage, 4.5-hour golden window countdown telemetry, and distance-optimized stroke center routing.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4437183"/>
            <a:ext cx="4826259" cy="22553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9" y="4437183"/>
            <a:ext cx="4179403" cy="2360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Experiment Results and Discussion</a:t>
            </a:r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838200" y="1454180"/>
            <a:ext cx="595884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Ensemble ML Performance: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Random Forest (84.2%), Gradient Boosting (88.6%), and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AdaBoost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 (78.4%) fused via Soft Voting to yield a calibrated stroke probability of 83.7% with robust generalization.</a:t>
            </a:r>
            <a:endParaRPr sz="4000" dirty="0"/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Explainable AI (XAI) Attribution: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Local feature contribution identified Average </a:t>
            </a:r>
            <a:r>
              <a:rPr sz="1800" b="0" dirty="0" smtClean="0">
                <a:solidFill>
                  <a:srgbClr val="334155"/>
                </a:solidFill>
                <a:latin typeface="Times New Roman"/>
              </a:rPr>
              <a:t>Glucos</a:t>
            </a:r>
            <a:r>
              <a:rPr lang="en-US" sz="1800" b="0" dirty="0" smtClean="0">
                <a:solidFill>
                  <a:srgbClr val="334155"/>
                </a:solidFill>
                <a:latin typeface="Times New Roman"/>
              </a:rPr>
              <a:t>e</a:t>
            </a:r>
            <a:r>
              <a:rPr sz="1800" b="0" dirty="0" smtClean="0">
                <a:solidFill>
                  <a:srgbClr val="334155"/>
                </a:solidFill>
                <a:latin typeface="Times New Roman"/>
              </a:rPr>
              <a:t>, Age,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and Stage-2 Hypertension </a:t>
            </a:r>
            <a:r>
              <a:rPr sz="1800" b="0" dirty="0" smtClean="0">
                <a:solidFill>
                  <a:srgbClr val="334155"/>
                </a:solidFill>
                <a:latin typeface="Times New Roman"/>
              </a:rPr>
              <a:t>as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primary stroke risk drivers.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MRI Segmentation Telemetry: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Axial T2-FLAIR scan segmented at Otsu cutoff </a:t>
            </a:r>
            <a:r>
              <a:rPr lang="en-US" sz="1800" b="0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sz="1800" b="0" dirty="0" smtClean="0">
                <a:solidFill>
                  <a:srgbClr val="334155"/>
                </a:solidFill>
                <a:latin typeface="Times New Roman"/>
              </a:rPr>
              <a:t>lesion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area ratio (2,423 </a:t>
            </a:r>
            <a:r>
              <a:rPr sz="1800" b="0" dirty="0" err="1">
                <a:solidFill>
                  <a:srgbClr val="334155"/>
                </a:solidFill>
                <a:latin typeface="Times New Roman"/>
              </a:rPr>
              <a:t>px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) mapped to the Left Middle Cerebral Artery (MCA) territory with ASPECTS score of 7/10.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  <a:latin typeface="Times New Roman"/>
              </a:rPr>
              <a:t>Clinical NLP Accuracy: </a:t>
            </a:r>
            <a:r>
              <a:rPr sz="1800" b="0" dirty="0">
                <a:solidFill>
                  <a:srgbClr val="334155"/>
                </a:solidFill>
                <a:latin typeface="Times New Roman"/>
              </a:rPr>
              <a:t>Demonstrated 100% precision in detecting acute neurological symptoms (facial droop, hemiparesis, slurred speech) with flawless contextual negation detection and ICD-10 coding.</a:t>
            </a:r>
          </a:p>
        </p:txBody>
      </p:sp>
      <p:pic>
        <p:nvPicPr>
          <p:cNvPr id="154" name="Picture 153" descr="screenshot_ml_x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39240"/>
            <a:ext cx="4955780" cy="1463040"/>
          </a:xfrm>
          <a:prstGeom prst="rect">
            <a:avLst/>
          </a:prstGeom>
        </p:spPr>
      </p:pic>
      <p:pic>
        <p:nvPicPr>
          <p:cNvPr id="155" name="Picture 154" descr="screenshot_mri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770" y="3648740"/>
            <a:ext cx="4572000" cy="1228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Conclusions</a:t>
            </a:r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838200" y="1286540"/>
            <a:ext cx="10515600" cy="489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Comprehensive Platform Validation: </a:t>
            </a:r>
            <a:r>
              <a:rPr sz="1800" b="0" dirty="0" err="1">
                <a:solidFill>
                  <a:schemeClr val="tx1"/>
                </a:solidFill>
                <a:latin typeface="Times New Roman"/>
              </a:rPr>
              <a:t>CogniCare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 AI successfully demonstrates an end-to-end multi-modal clinical intelligence system bridging predictive ML, neuroimaging CV, medical NLP, and emergency orchestration.</a:t>
            </a:r>
            <a:endParaRPr sz="4000" dirty="0">
              <a:solidFill>
                <a:schemeClr val="tx1"/>
              </a:solidFill>
            </a:endParaRP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Balanced Ensemble Decision Making: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The soft-voting ensemble overcomes class imbalance and individual classifier bias, delivering calibrated, robust clinical risk assessments.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Deterministic &amp; Lightweight Neuroimaging: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The 5-stage MRI segmentation module isolates infarct core </a:t>
            </a:r>
            <a:r>
              <a:rPr sz="1800" b="0" dirty="0" err="1">
                <a:solidFill>
                  <a:schemeClr val="tx1"/>
                </a:solidFill>
                <a:latin typeface="Times New Roman"/>
              </a:rPr>
              <a:t>hyperintensities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 in milliseconds without demanding heavy GPU infrastructure, making it ideal for community hospitals.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 err="1">
                <a:solidFill>
                  <a:schemeClr val="tx1"/>
                </a:solidFill>
                <a:latin typeface="Times New Roman"/>
              </a:rPr>
              <a:t>Explainability</a:t>
            </a:r>
            <a:r>
              <a:rPr sz="1800" b="1" dirty="0">
                <a:solidFill>
                  <a:schemeClr val="tx1"/>
                </a:solidFill>
                <a:latin typeface="Times New Roman"/>
              </a:rPr>
              <a:t> &amp; Semantic Standardization: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SHAP-inspired feature attributions and negation-aware ICD-10 / SNOMED-CT extraction provide the clinical transparency and EHR interoperability necessary for physician adoption.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chemeClr val="tx1"/>
                </a:solidFill>
                <a:latin typeface="Times New Roman"/>
              </a:rPr>
              <a:t>Future Development Roadmap: </a:t>
            </a:r>
            <a:r>
              <a:rPr sz="1800" b="0" dirty="0">
                <a:solidFill>
                  <a:schemeClr val="tx1"/>
                </a:solidFill>
                <a:latin typeface="Times New Roman"/>
              </a:rPr>
              <a:t>Next phases will incorporate 3D U-Net architectures for multi-parametric volumetric MRI/CT perfusion scans, direct HL7/FHIR hospital database connectors, and multi-institutional federated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838200" y="1233377"/>
            <a:ext cx="10515600" cy="494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IEEE / Clinical Journal Standards: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Standard Academic Citations:</a:t>
            </a: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[1]: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World Health Organization, 'Global Health Estimates: Leading causes of death and disability,' WHO Press, Geneva, 2023.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[2]: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W.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Hacke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 et al., 'Thrombolysis with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alteplase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 3 to 4.5 hours after acute ischemic stroke (ECASS III),' New England Journal of Medicine, vol. 359, no. 13, pp. 1317–1329, 2008.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[3]: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P. Barber et al., 'Validity and reliability of a quantitative computed tomography score in predicting outcome of 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hyperacute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 stroke (ASPECTS),' The Lancet, vol. 355, no. 9216, pp. 1670–1674, 2000.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[4]: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S. M. Lundberg and S.-I. Lee, 'A unified approach to interpreting model predictions,' in Advances in Neural Information Processing Systems (</a:t>
            </a:r>
            <a:r>
              <a:rPr sz="1600" b="0" dirty="0" err="1">
                <a:solidFill>
                  <a:schemeClr val="tx1"/>
                </a:solidFill>
                <a:latin typeface="Times New Roman"/>
              </a:rPr>
              <a:t>NeurIPS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), vol. 30, pp. 4765–4774, 2017.</a:t>
            </a:r>
          </a:p>
          <a:p>
            <a:pPr algn="just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chemeClr val="tx1"/>
                </a:solidFill>
                <a:latin typeface="Times New Roman"/>
              </a:rPr>
              <a:t>[5]: </a:t>
            </a:r>
            <a:r>
              <a:rPr sz="1600" b="0" dirty="0">
                <a:solidFill>
                  <a:schemeClr val="tx1"/>
                </a:solidFill>
                <a:latin typeface="Times New Roman"/>
              </a:rPr>
              <a:t>American Stroke Association, 'Guidelines for the Early Management of Patients With Acute Ischemic Stroke,' Stroke, vol. 50, no. 12, pp. e344–e418,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body" idx="4294967295"/>
          </p:nvPr>
        </p:nvSpPr>
        <p:spPr>
          <a:xfrm>
            <a:off x="1063256" y="889591"/>
            <a:ext cx="10515600" cy="548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8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Appendix (if any)</a:t>
            </a:r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838199" y="1233377"/>
            <a:ext cx="11223171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just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REST API Endpoint Architecture: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• POST /predict : Computes soft-voting risk probability (RF + GB + </a:t>
            </a:r>
            <a:r>
              <a:rPr sz="1600" b="0" dirty="0" err="1">
                <a:solidFill>
                  <a:srgbClr val="334155"/>
                </a:solidFill>
                <a:latin typeface="Times New Roman"/>
              </a:rPr>
              <a:t>AdaBoost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) &amp; XAI local feature attributions.
• POST /segment-</a:t>
            </a:r>
            <a:r>
              <a:rPr sz="1600" b="0" dirty="0" err="1">
                <a:solidFill>
                  <a:srgbClr val="334155"/>
                </a:solidFill>
                <a:latin typeface="Times New Roman"/>
              </a:rPr>
              <a:t>mri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 : Executes 5-stage CV pipeline on uploaded scan, returning lesion area % &amp; ASPECTS territory.
• POST /parse-notes : Extracts symptoms, medications, and conditions with negation tagging &amp; ICD-10 mapping.
• POST /emergency-alert : Triggers emergency SMS/WhatsApp dispatch via </a:t>
            </a:r>
            <a:r>
              <a:rPr sz="1600" b="0" dirty="0" err="1">
                <a:solidFill>
                  <a:srgbClr val="334155"/>
                </a:solidFill>
                <a:latin typeface="Times New Roman"/>
              </a:rPr>
              <a:t>Twilio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 and distance matrix hospital routing.</a:t>
            </a:r>
            <a:endParaRPr sz="3600" dirty="0"/>
          </a:p>
          <a:p>
            <a:pPr marL="114300" indent="0" algn="just">
              <a:spcBef>
                <a:spcPts val="200"/>
              </a:spcBef>
              <a:spcAft>
                <a:spcPts val="800"/>
              </a:spcAft>
              <a:buNone/>
            </a:pPr>
            <a:endParaRPr lang="en-US" sz="1600" b="1" dirty="0" smtClean="0">
              <a:solidFill>
                <a:srgbClr val="0F172A"/>
              </a:solidFill>
              <a:latin typeface="Times New Roman"/>
            </a:endParaRPr>
          </a:p>
          <a:p>
            <a:pPr marL="114300" indent="0" algn="just">
              <a:spcBef>
                <a:spcPts val="200"/>
              </a:spcBef>
              <a:spcAft>
                <a:spcPts val="800"/>
              </a:spcAft>
              <a:buNone/>
            </a:pPr>
            <a:r>
              <a:rPr sz="1600" b="1" dirty="0" smtClean="0">
                <a:solidFill>
                  <a:srgbClr val="0F172A"/>
                </a:solidFill>
                <a:latin typeface="Times New Roman"/>
              </a:rPr>
              <a:t>FAST </a:t>
            </a:r>
            <a:r>
              <a:rPr sz="1600" b="1" dirty="0">
                <a:solidFill>
                  <a:srgbClr val="0F172A"/>
                </a:solidFill>
                <a:latin typeface="Times New Roman"/>
              </a:rPr>
              <a:t>Diagnostic Protocol Telemetry: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• Face (F): Droop detection </a:t>
            </a:r>
            <a:r>
              <a:rPr sz="1600" b="0" dirty="0" smtClean="0">
                <a:solidFill>
                  <a:srgbClr val="334155"/>
                </a:solidFill>
                <a:latin typeface="Times New Roman"/>
              </a:rPr>
              <a:t>•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Arm (A): Unilateral hemiparesis </a:t>
            </a:r>
            <a:r>
              <a:rPr sz="1600" b="0" dirty="0" smtClean="0">
                <a:solidFill>
                  <a:srgbClr val="334155"/>
                </a:solidFill>
                <a:latin typeface="Times New Roman"/>
              </a:rPr>
              <a:t>•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Speech (S): Dysarthria/slurred speech </a:t>
            </a:r>
            <a:r>
              <a:rPr sz="1600" b="0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• Time (T): Golden hour 4.5h </a:t>
            </a:r>
            <a:r>
              <a:rPr sz="1600" b="0" dirty="0" err="1">
                <a:solidFill>
                  <a:srgbClr val="334155"/>
                </a:solidFill>
                <a:latin typeface="Times New Roman"/>
              </a:rPr>
              <a:t>tPA</a:t>
            </a:r>
            <a:r>
              <a:rPr sz="1600" b="0" dirty="0">
                <a:solidFill>
                  <a:srgbClr val="334155"/>
                </a:solidFill>
                <a:latin typeface="Times New Roman"/>
              </a:rPr>
              <a:t> countdown initiation.</a:t>
            </a:r>
          </a:p>
        </p:txBody>
      </p:sp>
      <p:pic>
        <p:nvPicPr>
          <p:cNvPr id="177" name="Picture 176" descr="screenshot_nlp_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15" y="4060587"/>
            <a:ext cx="11596914" cy="2724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2052</Words>
  <Application>Microsoft Office PowerPoint</Application>
  <PresentationFormat>Widescreen</PresentationFormat>
  <Paragraphs>107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CogniCare AI: Brain Stroke Risk Prediction, MRI Lesion Segmentation and Emergency Response Platform</vt:lpstr>
      <vt:lpstr>Table of Contents</vt:lpstr>
      <vt:lpstr>Abstract</vt:lpstr>
      <vt:lpstr>Introduction</vt:lpstr>
      <vt:lpstr>Literature Survey</vt:lpstr>
      <vt:lpstr>Problem Statement and Objective </vt:lpstr>
      <vt:lpstr>Scope of the Project</vt:lpstr>
      <vt:lpstr>Proposed system</vt:lpstr>
      <vt:lpstr>Methodology used</vt:lpstr>
      <vt:lpstr>Hardware and Software Requirements</vt:lpstr>
      <vt:lpstr>Expected Outcomes</vt:lpstr>
      <vt:lpstr>Experiment Results and Discussion</vt:lpstr>
      <vt:lpstr>Conclusions</vt:lpstr>
      <vt:lpstr>References</vt:lpstr>
      <vt:lpstr>PowerPoint Presentation</vt:lpstr>
      <vt:lpstr>Appendix (if any)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/>
  <cp:lastModifiedBy>Admin</cp:lastModifiedBy>
  <cp:revision>8</cp:revision>
  <dcterms:created xsi:type="dcterms:W3CDTF">2025-10-03T04:51:00Z</dcterms:created>
  <dcterms:modified xsi:type="dcterms:W3CDTF">2026-10-01T01:57:21Z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51634816203747D183812E56681E16C2_12</vt:lpwstr>
  </property>
  <property fmtid="{D5CDD505-2E9C-101B-9397-08002B2CF9AE}" pid="3" name="KSOProductBuildVer">
    <vt:lpwstr>1033-12.2.0.22549</vt:lpwstr>
  </property>
</Properties>
</file>